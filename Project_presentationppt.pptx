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7" r:id="rId12"/>
    <p:sldId id="286" r:id="rId13"/>
    <p:sldId id="277" r:id="rId14"/>
    <p:sldId id="280" r:id="rId15"/>
    <p:sldId id="27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63" d="100"/>
          <a:sy n="63" d="100"/>
        </p:scale>
        <p:origin x="86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sh-Aanand/Health-Symptoms-Analysis-using-AI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“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856111736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dirty="0"/>
                        <a:t>Harsh Aanand</a:t>
                      </a:r>
                      <a:endParaRPr sz="18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datastotage112001@gmail.com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72558590XX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99257" y="1362476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Healthcare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i="1" dirty="0"/>
              <a:t>Health Symptom Checker Agent</a:t>
            </a:r>
            <a:endParaRPr lang="en-IN" sz="2400" b="1" i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88D727-58F1-3200-4A19-5D77C75CE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422" y="3667508"/>
            <a:ext cx="856102" cy="10999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269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1800" b="1" dirty="0"/>
              <a:t>The</a:t>
            </a:r>
            <a:r>
              <a:rPr lang="en-US" sz="1600" b="1" dirty="0"/>
              <a:t> </a:t>
            </a:r>
            <a:r>
              <a:rPr lang="en-US" sz="1800" b="1" dirty="0"/>
              <a:t>Challenge</a:t>
            </a:r>
            <a:r>
              <a:rPr lang="en-US" sz="1800" dirty="0"/>
              <a:t> </a:t>
            </a:r>
          </a:p>
          <a:p>
            <a:pPr fontAlgn="base">
              <a:lnSpc>
                <a:spcPct val="150000"/>
              </a:lnSpc>
            </a:pPr>
            <a:r>
              <a:rPr lang="en-IN" sz="1600" dirty="0"/>
              <a:t>Individuals often struggle to understand sudden health symptoms or find reliable medical information quickly. Searching online leads to "cyberchondria" where users find alarming and inaccurate diagnoses. There is a lack of personalized, real-time triage guidance to help users decide whether they need home care, a clinic visit, or emergency attention.</a:t>
            </a:r>
          </a:p>
          <a:p>
            <a:pPr fontAlgn="base">
              <a:lnSpc>
                <a:spcPct val="150000"/>
              </a:lnSpc>
            </a:pPr>
            <a:endParaRPr lang="en-US" dirty="0"/>
          </a:p>
          <a:p>
            <a:pPr fontAlgn="base">
              <a:lnSpc>
                <a:spcPct val="150000"/>
              </a:lnSpc>
            </a:pPr>
            <a:r>
              <a:rPr lang="en-US" sz="1600" b="1" dirty="0"/>
              <a:t>The Objective </a:t>
            </a:r>
          </a:p>
          <a:p>
            <a:pPr fontAlgn="base">
              <a:lnSpc>
                <a:spcPct val="150000"/>
              </a:lnSpc>
            </a:pPr>
            <a:endParaRPr lang="en-US" sz="1600" b="1" dirty="0"/>
          </a:p>
          <a:p>
            <a:pPr>
              <a:lnSpc>
                <a:spcPct val="150000"/>
              </a:lnSpc>
            </a:pPr>
            <a:r>
              <a:rPr lang="en-IN" dirty="0"/>
              <a:t>Build an </a:t>
            </a:r>
            <a:r>
              <a:rPr lang="en-IN" b="1" dirty="0"/>
              <a:t>AI-powered Health Symptom Checker Agent</a:t>
            </a:r>
            <a:r>
              <a:rPr lang="en-IN" dirty="0"/>
              <a:t> that:</a:t>
            </a:r>
          </a:p>
          <a:p>
            <a:pPr>
              <a:lnSpc>
                <a:spcPct val="150000"/>
              </a:lnSpc>
            </a:pPr>
            <a:r>
              <a:rPr lang="en-IN" b="1" dirty="0"/>
              <a:t>Assesses Symptoms:</a:t>
            </a:r>
            <a:r>
              <a:rPr lang="en-IN" dirty="0"/>
              <a:t> </a:t>
            </a:r>
            <a:r>
              <a:rPr lang="en-IN" dirty="0" err="1"/>
              <a:t>Analyzes</a:t>
            </a:r>
            <a:r>
              <a:rPr lang="en-IN" dirty="0"/>
              <a:t> user-reported symptoms through natural conversation.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Medical Knowledge RAG:</a:t>
            </a:r>
            <a:r>
              <a:rPr lang="en-IN" dirty="0"/>
              <a:t> Fetches accurate health data from trusted medical knowledge bases.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Triage Recommendations:</a:t>
            </a:r>
            <a:r>
              <a:rPr lang="en-IN" dirty="0"/>
              <a:t> Suggests the urgency of care (Self-care, Primary Doctor, or ER).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Specialist Referral:</a:t>
            </a:r>
            <a:r>
              <a:rPr lang="en-IN" dirty="0"/>
              <a:t> Recommends the appropriate medical specialist (e.g., Cardiologist, Dermatologist).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Multi-Agent System:</a:t>
            </a:r>
            <a:r>
              <a:rPr lang="en-IN" dirty="0"/>
              <a:t> Coordinates Intake, Knowledge, and Referral agents for a seamless experience.</a:t>
            </a:r>
            <a:endParaRPr lang="en-US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72775"/>
            <a:ext cx="8600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 </a:t>
            </a:r>
            <a:r>
              <a:rPr lang="en-IN" sz="2400" i="1" dirty="0"/>
              <a:t>Health Symptom Checker Agent</a:t>
            </a:r>
            <a:endParaRPr lang="en-US" sz="2400" b="1" i="1" dirty="0"/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504952" y="1297833"/>
            <a:ext cx="106070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sz="1600" b="1" dirty="0"/>
          </a:p>
          <a:p>
            <a:pPr fontAlgn="base">
              <a:lnSpc>
                <a:spcPct val="150000"/>
              </a:lnSpc>
            </a:pPr>
            <a:r>
              <a:rPr lang="en-IN" sz="1600" b="1" dirty="0"/>
              <a:t>Tech Stack (Mandatory)</a:t>
            </a:r>
            <a:r>
              <a:rPr lang="en-IN" sz="1600" dirty="0"/>
              <a:t> 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Tech Stack Selection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Selected Approach:</a:t>
            </a:r>
            <a:r>
              <a:rPr lang="en-IN" sz="1600" dirty="0"/>
              <a:t> </a:t>
            </a:r>
            <a:r>
              <a:rPr lang="en-IN" sz="1600" dirty="0" err="1"/>
              <a:t>LangFlow</a:t>
            </a:r>
            <a:r>
              <a:rPr lang="en-IN" sz="1600" dirty="0"/>
              <a:t> + IBM watsonx.ai + Granite Models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Intelligence:</a:t>
            </a:r>
            <a:r>
              <a:rPr lang="en-IN" sz="1600" dirty="0"/>
              <a:t> IBM Granite Models (Reasoning and Medical Text Processing)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Orchestration:</a:t>
            </a:r>
            <a:r>
              <a:rPr lang="en-IN" sz="1600" dirty="0"/>
              <a:t> </a:t>
            </a:r>
            <a:r>
              <a:rPr lang="en-IN" sz="1600" dirty="0" err="1"/>
              <a:t>LangFlow</a:t>
            </a:r>
            <a:r>
              <a:rPr lang="en-IN" sz="1600" dirty="0"/>
              <a:t> (Visualizing Multi-Agent Workflows)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Infrastructure:</a:t>
            </a:r>
            <a:r>
              <a:rPr lang="en-IN" sz="1600" dirty="0"/>
              <a:t> IBM Cloud &amp; </a:t>
            </a:r>
            <a:r>
              <a:rPr lang="en-IN" sz="1600" dirty="0" err="1"/>
              <a:t>Watsonx</a:t>
            </a:r>
            <a:r>
              <a:rPr lang="en-IN" sz="1600" dirty="0"/>
              <a:t> Orchestrate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sz="1600" dirty="0"/>
          </a:p>
          <a:p>
            <a:pPr fontAlgn="base"/>
            <a:r>
              <a:rPr lang="en-IN" sz="1600" u="sng" dirty="0"/>
              <a:t>I used </a:t>
            </a:r>
            <a:r>
              <a:rPr lang="en-IN" sz="1600" u="sng" dirty="0">
                <a:highlight>
                  <a:srgbClr val="FFFF00"/>
                </a:highlight>
              </a:rPr>
              <a:t> </a:t>
            </a:r>
            <a:r>
              <a:rPr lang="en-IN" sz="1600" u="sng" dirty="0" err="1">
                <a:highlight>
                  <a:srgbClr val="FFFF00"/>
                </a:highlight>
              </a:rPr>
              <a:t>Watsonx</a:t>
            </a:r>
            <a:r>
              <a:rPr lang="en-IN" sz="1600" u="sng" dirty="0">
                <a:highlight>
                  <a:srgbClr val="FFFF00"/>
                </a:highlight>
              </a:rPr>
              <a:t> Orchestrate + Granite Models .</a:t>
            </a:r>
          </a:p>
          <a:p>
            <a:pPr fontAlgn="base"/>
            <a:endParaRPr lang="en-IN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sz="1600" dirty="0"/>
          </a:p>
          <a:p>
            <a:pPr fontAlgn="base"/>
            <a:endParaRPr lang="en-IN" sz="1600" dirty="0"/>
          </a:p>
          <a:p>
            <a:pPr fontAlgn="base"/>
            <a:endParaRPr lang="en-US" sz="1600" dirty="0"/>
          </a:p>
          <a:p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253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Proposed Solution: AI-Powered </a:t>
            </a:r>
            <a:r>
              <a:rPr lang="en-IN" b="1" dirty="0" err="1"/>
              <a:t>VitalCheck</a:t>
            </a:r>
            <a:endParaRPr lang="en-IN" b="1" dirty="0"/>
          </a:p>
          <a:p>
            <a:pPr>
              <a:lnSpc>
                <a:spcPct val="150000"/>
              </a:lnSpc>
            </a:pPr>
            <a:r>
              <a:rPr lang="en-IN" dirty="0" err="1"/>
              <a:t>VitalCheck</a:t>
            </a:r>
            <a:r>
              <a:rPr lang="en-IN" dirty="0"/>
              <a:t> AI is a multi-agent AI-powered Health Symptom Checker built using </a:t>
            </a:r>
            <a:r>
              <a:rPr lang="en-IN" b="1" dirty="0" err="1"/>
              <a:t>LangFlow</a:t>
            </a:r>
            <a:r>
              <a:rPr lang="en-IN" dirty="0"/>
              <a:t> and </a:t>
            </a:r>
            <a:r>
              <a:rPr lang="en-IN" b="1" dirty="0"/>
              <a:t>IBM Granite Models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Intelligent Triage:</a:t>
            </a:r>
            <a:r>
              <a:rPr lang="en-IN" dirty="0"/>
              <a:t> Unlike a static search engine, </a:t>
            </a:r>
            <a:r>
              <a:rPr lang="en-IN" dirty="0" err="1"/>
              <a:t>VitalCheck</a:t>
            </a:r>
            <a:r>
              <a:rPr lang="en-IN" dirty="0"/>
              <a:t> acts as an autonomous agent that asks follow-up questions to narrow down potential causes.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RAG Integration:</a:t>
            </a:r>
            <a:r>
              <a:rPr lang="en-IN" dirty="0"/>
              <a:t> Uses a Retrieval-Augmented Generation pipeline to pull information from verified medical datasets, ensuring the agent provides facts, not "hallucinations."</a:t>
            </a:r>
          </a:p>
          <a:p>
            <a:pPr>
              <a:lnSpc>
                <a:spcPct val="150000"/>
              </a:lnSpc>
            </a:pPr>
            <a:r>
              <a:rPr lang="en-IN" b="1" dirty="0"/>
              <a:t>Modular Architecture:</a:t>
            </a:r>
            <a:r>
              <a:rPr lang="en-IN" dirty="0"/>
              <a:t> The system uses specialized agents—one to gather symptoms, one to query medical literature, and one to provide a final triage report.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Safety First:</a:t>
            </a:r>
            <a:r>
              <a:rPr lang="en-IN" dirty="0"/>
              <a:t> Includes automated medical disclaimers and prioritizes high-risk symptoms (like chest pain) for immediate emergency alerts.</a:t>
            </a:r>
          </a:p>
          <a:p>
            <a:pPr fontAlgn="base"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L</a:t>
            </a:r>
            <a:r>
              <a:rPr lang="en-IN" dirty="0" err="1"/>
              <a:t>angFlow</a:t>
            </a:r>
            <a:r>
              <a:rPr lang="en-IN" dirty="0"/>
              <a:t> Component Integration</a:t>
            </a:r>
          </a:p>
          <a:p>
            <a:r>
              <a:rPr lang="en-IN" b="1" dirty="0"/>
              <a:t>Chat Input:</a:t>
            </a:r>
            <a:r>
              <a:rPr lang="en-IN" dirty="0"/>
              <a:t> Interface where users describe their symptoms (e.g., "I have a sharp pain in my lower back").</a:t>
            </a:r>
          </a:p>
          <a:p>
            <a:endParaRPr lang="en-IN" dirty="0"/>
          </a:p>
          <a:p>
            <a:r>
              <a:rPr lang="en-IN" b="1" dirty="0"/>
              <a:t>IBM </a:t>
            </a:r>
            <a:r>
              <a:rPr lang="en-IN" b="1" dirty="0" err="1"/>
              <a:t>watsonx</a:t>
            </a:r>
            <a:r>
              <a:rPr lang="en-IN" b="1" dirty="0"/>
              <a:t> AI Agent:</a:t>
            </a:r>
            <a:r>
              <a:rPr lang="en-IN" dirty="0"/>
              <a:t> The brain that interprets the severity and context of the symptoms using Granite.</a:t>
            </a:r>
          </a:p>
          <a:p>
            <a:endParaRPr lang="en-IN" dirty="0"/>
          </a:p>
          <a:p>
            <a:r>
              <a:rPr lang="en-IN" b="1" dirty="0"/>
              <a:t>IBM Granite Model (Granite-3.0-8B-Instruct):</a:t>
            </a:r>
            <a:r>
              <a:rPr lang="en-IN" dirty="0"/>
              <a:t> Chosen for its high efficiency in logical reasoning and medical summarization.</a:t>
            </a:r>
          </a:p>
          <a:p>
            <a:endParaRPr lang="en-IN" dirty="0"/>
          </a:p>
          <a:p>
            <a:r>
              <a:rPr lang="en-IN" b="1" dirty="0"/>
              <a:t>Medical Vector Database:</a:t>
            </a:r>
            <a:r>
              <a:rPr lang="en-IN" dirty="0"/>
              <a:t> Stores medical guidelines and first-aid protocols for RAG retrieval.</a:t>
            </a:r>
          </a:p>
          <a:p>
            <a:endParaRPr lang="en-IN" dirty="0"/>
          </a:p>
          <a:p>
            <a:r>
              <a:rPr lang="en-IN" b="1" dirty="0"/>
              <a:t>Chat Output:</a:t>
            </a:r>
            <a:r>
              <a:rPr lang="en-IN" dirty="0"/>
              <a:t> Delivers a structured triage summary, potential causes, and next-step recommendations.</a:t>
            </a:r>
          </a:p>
          <a:p>
            <a:endParaRPr lang="en-IN" dirty="0"/>
          </a:p>
          <a:p>
            <a:r>
              <a:rPr lang="en-IN" b="1" dirty="0"/>
              <a:t>Prompt Templates:</a:t>
            </a:r>
            <a:r>
              <a:rPr lang="en-IN" dirty="0"/>
              <a:t> Customized "System Instructions" that force the agent to act as a professional medical assistant.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u="sng" dirty="0" err="1">
                <a:sym typeface="Times New Roman"/>
              </a:rPr>
              <a:t>Langflow</a:t>
            </a:r>
            <a:r>
              <a:rPr lang="en-US" sz="3500" b="1" i="0" u="sng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u="sng" dirty="0">
                <a:sym typeface="Times New Roman"/>
              </a:rPr>
              <a:t>workflow </a:t>
            </a:r>
            <a:r>
              <a:rPr lang="en-US" sz="2400" b="1" dirty="0">
                <a:sym typeface="Times New Roman"/>
              </a:rPr>
              <a:t>-</a:t>
            </a:r>
            <a:endParaRPr sz="2400" b="1" dirty="0"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0750EA-5CC1-F2F3-071C-45507A53A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6593"/>
            <a:ext cx="11923776" cy="593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132BBE-CBF7-01DA-7E6E-4F7F5F1E6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" y="900112"/>
            <a:ext cx="10925175" cy="5057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1115786"/>
            <a:ext cx="7406640" cy="4478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Role of Agentic AI in the Solution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 Agentic AI transforms the checker from a basic form into an active health companion: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Autonomous Reasoning:</a:t>
            </a:r>
            <a:r>
              <a:rPr lang="en-IN" sz="1600" dirty="0"/>
              <a:t> It doesn't just list possibilities; it reasons </a:t>
            </a:r>
            <a:r>
              <a:rPr lang="en-IN" sz="1600" i="1" dirty="0"/>
              <a:t>why</a:t>
            </a:r>
            <a:r>
              <a:rPr lang="en-IN" sz="1600" dirty="0"/>
              <a:t> a symptom might be concerning based on user age and history.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Task Decomposition:</a:t>
            </a:r>
            <a:r>
              <a:rPr lang="en-IN" sz="1600" dirty="0"/>
              <a:t> It breaks a query into sub-tasks: (1) Assess Urgency, (2) Search Knowledge Base, (3) Generate Advice.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Self-Correction:</a:t>
            </a:r>
            <a:r>
              <a:rPr lang="en-IN" sz="1600" dirty="0"/>
              <a:t> If the user provides conflicting information, the agent asks for clarification before providing a triage recommendation.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Proactive Triage:</a:t>
            </a:r>
            <a:r>
              <a:rPr lang="en-IN" sz="1600" dirty="0"/>
              <a:t> The agent "acts" by immediately flagging emergency symptoms and providing first-aid steps while the user waits for professional help.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4690872" y="155448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Screenshot-   Website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1608BA-D8C1-0121-7A48-CEA3FC2AE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617113"/>
            <a:ext cx="11948160" cy="597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91840-F6F4-21D6-E082-ED5E28039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B87EB-6438-F20F-67A6-02056F0E3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F9D631-FE6E-2E5A-80DA-5E56EB371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2" y="866113"/>
            <a:ext cx="11712816" cy="59918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2ABD03-C7D1-3DFF-DEA9-050C701DE0B6}"/>
              </a:ext>
            </a:extLst>
          </p:cNvPr>
          <p:cNvSpPr txBox="1"/>
          <p:nvPr/>
        </p:nvSpPr>
        <p:spPr>
          <a:xfrm>
            <a:off x="1426464" y="134112"/>
            <a:ext cx="566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IBM </a:t>
            </a:r>
            <a:r>
              <a:rPr lang="en-IN" sz="1800" b="1" dirty="0" err="1"/>
              <a:t>Watsonx</a:t>
            </a:r>
            <a:r>
              <a:rPr lang="en-IN" sz="1800" b="1" dirty="0"/>
              <a:t> Orchestrate view</a:t>
            </a:r>
          </a:p>
        </p:txBody>
      </p:sp>
    </p:spTree>
    <p:extLst>
      <p:ext uri="{BB962C8B-B14F-4D97-AF65-F5344CB8AC3E}">
        <p14:creationId xmlns:p14="http://schemas.microsoft.com/office/powerpoint/2010/main" val="1730739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proposed Why health Symptoms Checker AI Stands Out</a:t>
            </a:r>
          </a:p>
          <a:p>
            <a:endParaRPr lang="en-IN" sz="1800" dirty="0"/>
          </a:p>
          <a:p>
            <a:r>
              <a:rPr lang="en-IN" sz="1800" b="1" dirty="0"/>
              <a:t>Specialist Mapping:</a:t>
            </a:r>
            <a:r>
              <a:rPr lang="en-IN" sz="1800" dirty="0"/>
              <a:t> It doesn't just name the problem; it tells the user exactly which type of doctor to book (e.g., "You should see an ENT specialist").</a:t>
            </a:r>
          </a:p>
          <a:p>
            <a:endParaRPr lang="en-IN" sz="1800" dirty="0"/>
          </a:p>
          <a:p>
            <a:r>
              <a:rPr lang="en-IN" sz="1800" b="1" dirty="0"/>
              <a:t>Fact-Checked Responses:</a:t>
            </a:r>
            <a:r>
              <a:rPr lang="en-IN" sz="1800" dirty="0"/>
              <a:t> By using RAG with Granite, it reduces the risk of incorrect medical advice common in standard LLMs.</a:t>
            </a:r>
          </a:p>
          <a:p>
            <a:endParaRPr lang="en-IN" sz="1800" dirty="0"/>
          </a:p>
          <a:p>
            <a:r>
              <a:rPr lang="en-IN" sz="1800" b="1" dirty="0"/>
              <a:t>Urgency Scoring:</a:t>
            </a:r>
            <a:r>
              <a:rPr lang="en-IN" sz="1800" dirty="0"/>
              <a:t> Provides a clear "Red, Yellow, Green" urgency status for every check.</a:t>
            </a:r>
          </a:p>
          <a:p>
            <a:endParaRPr lang="en-IN" sz="1800" dirty="0"/>
          </a:p>
          <a:p>
            <a:r>
              <a:rPr lang="en-IN" sz="1800" b="1" dirty="0"/>
              <a:t>User-Centric UX:</a:t>
            </a:r>
            <a:r>
              <a:rPr lang="en-IN" sz="1800" dirty="0"/>
              <a:t> Natural language interaction makes it accessible to elderly users who struggle with complex medical forms.</a:t>
            </a:r>
          </a:p>
          <a:p>
            <a:endParaRPr lang="en-IN" sz="1800" dirty="0"/>
          </a:p>
          <a:p>
            <a:r>
              <a:rPr lang="en-IN" sz="1800" b="1" dirty="0"/>
              <a:t>Enterprise-Grade Security:</a:t>
            </a:r>
            <a:r>
              <a:rPr lang="en-IN" sz="1800" dirty="0"/>
              <a:t> Built on watsonx.ai, ensuring user health data is handled with strict governance.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https://github.com/Harsh-Aanand/Health-Symptoms-Analysis-using-AI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includes:-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, 2) problemstatement.pdf file  3) projectpresntation.pptx file  4)html.css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5)style.css      6)readme.md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487680" y="1221715"/>
            <a:ext cx="9945624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dirty="0"/>
              <a:t>Future Scope &amp; Enhancements</a:t>
            </a:r>
          </a:p>
          <a:p>
            <a:endParaRPr lang="en-IN" sz="2000" dirty="0"/>
          </a:p>
          <a:p>
            <a:r>
              <a:rPr lang="en-IN" sz="2000" b="1" dirty="0"/>
              <a:t>Wearable Sync:</a:t>
            </a:r>
            <a:r>
              <a:rPr lang="en-IN" sz="2000" dirty="0"/>
              <a:t> Integration with Apple Health or Fitbit to monitor real-time heart rate and oxygen levels during a symptom check.</a:t>
            </a:r>
          </a:p>
          <a:p>
            <a:endParaRPr lang="en-IN" sz="2000" dirty="0"/>
          </a:p>
          <a:p>
            <a:r>
              <a:rPr lang="en-IN" sz="2000" b="1" dirty="0"/>
              <a:t>Multilingual Medical Support:</a:t>
            </a:r>
            <a:r>
              <a:rPr lang="en-IN" sz="2000" dirty="0"/>
              <a:t> Expanding the agent to understand and respond in local languages to help rural populations with limited access to doctors.</a:t>
            </a:r>
          </a:p>
          <a:p>
            <a:endParaRPr lang="en-IN" sz="2000" dirty="0"/>
          </a:p>
          <a:p>
            <a:r>
              <a:rPr lang="en-IN" sz="2000" b="1" dirty="0"/>
              <a:t>Telemedicine Link:</a:t>
            </a:r>
            <a:r>
              <a:rPr lang="en-IN" sz="2000" dirty="0"/>
              <a:t> A direct button to "Call a Doctor" or "Book Appointment" based on the triage result within the chat interface.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907</Words>
  <Application>Microsoft Office PowerPoint</Application>
  <PresentationFormat>Widescreen</PresentationFormat>
  <Paragraphs>109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Anshu Anish</cp:lastModifiedBy>
  <cp:revision>23</cp:revision>
  <dcterms:created xsi:type="dcterms:W3CDTF">2025-07-08T05:06:56Z</dcterms:created>
  <dcterms:modified xsi:type="dcterms:W3CDTF">2026-06-08T19:25:46Z</dcterms:modified>
</cp:coreProperties>
</file>